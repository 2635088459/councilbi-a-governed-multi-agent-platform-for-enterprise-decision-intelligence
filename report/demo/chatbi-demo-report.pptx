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0a20411c24b77" /><Relationship Type="http://schemas.openxmlformats.org/officeDocument/2006/relationships/extended-properties" Target="/docProps/app.xml" Id="R039f1c60e43d4503" /><Relationship Type="http://schemas.openxmlformats.org/officeDocument/2006/relationships/officeDocument" Target="/ppt/presentation.xml" Id="R8f568279bbf7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862e5bd794430"/>
  </p:sldMasterIdLst>
  <p:notesMasterIdLst>
    <p:notesMasterId xmlns:r="http://schemas.openxmlformats.org/officeDocument/2006/relationships" r:id="Re7e668fb0ba94380"/>
  </p:notesMasterIdLst>
  <p:sldIdLst>
    <p:sldId xmlns:r="http://schemas.openxmlformats.org/officeDocument/2006/relationships" id="256" r:id="R0e104237b9894ff9"/>
    <p:sldId xmlns:r="http://schemas.openxmlformats.org/officeDocument/2006/relationships" id="257" r:id="R1b93a380fdff46f4"/>
    <p:sldId xmlns:r="http://schemas.openxmlformats.org/officeDocument/2006/relationships" id="258" r:id="Re5cadba1051444ab"/>
    <p:sldId xmlns:r="http://schemas.openxmlformats.org/officeDocument/2006/relationships" id="259" r:id="R32226bff67ce418c"/>
    <p:sldId xmlns:r="http://schemas.openxmlformats.org/officeDocument/2006/relationships" id="260" r:id="Rdcf1e3ce0f41442e"/>
    <p:sldId xmlns:r="http://schemas.openxmlformats.org/officeDocument/2006/relationships" id="261" r:id="R6e9f1a90b6364761"/>
    <p:sldId xmlns:r="http://schemas.openxmlformats.org/officeDocument/2006/relationships" id="262" r:id="R935720bde5744da7"/>
    <p:sldId xmlns:r="http://schemas.openxmlformats.org/officeDocument/2006/relationships" id="263" r:id="R11bb6e10f31a4c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862e5bd794430" /><Relationship Type="http://schemas.openxmlformats.org/officeDocument/2006/relationships/theme" Target="/ppt/theme/theme1.xml" Id="R2bf4a4691ef04946" /><Relationship Type="http://schemas.openxmlformats.org/officeDocument/2006/relationships/notesMaster" Target="/ppt/notesMasters/notesMaster1.xml" Id="Re7e668fb0ba94380" /><Relationship Type="http://schemas.openxmlformats.org/officeDocument/2006/relationships/presProps" Target="/ppt/presProps.xml" Id="R0f1704b5385b4c18" /><Relationship Type="http://schemas.openxmlformats.org/officeDocument/2006/relationships/viewProps" Target="/ppt/viewProps.xml" Id="R6e2a8db7a64040ac" /><Relationship Type="http://schemas.openxmlformats.org/officeDocument/2006/relationships/tableStyles" Target="/ppt/tableStyles.xml" Id="Rde6d5de90ce14c46" /><Relationship Type="http://schemas.openxmlformats.org/officeDocument/2006/relationships/slide" Target="/ppt/slides/slide1.xml" Id="R0e104237b9894ff9" /><Relationship Type="http://schemas.openxmlformats.org/officeDocument/2006/relationships/slide" Target="/ppt/slides/slide2.xml" Id="R1b93a380fdff46f4" /><Relationship Type="http://schemas.openxmlformats.org/officeDocument/2006/relationships/slide" Target="/ppt/slides/slide3.xml" Id="Re5cadba1051444ab" /><Relationship Type="http://schemas.openxmlformats.org/officeDocument/2006/relationships/slide" Target="/ppt/slides/slide4.xml" Id="R32226bff67ce418c" /><Relationship Type="http://schemas.openxmlformats.org/officeDocument/2006/relationships/slide" Target="/ppt/slides/slide5.xml" Id="Rdcf1e3ce0f41442e" /><Relationship Type="http://schemas.openxmlformats.org/officeDocument/2006/relationships/slide" Target="/ppt/slides/slide6.xml" Id="R6e9f1a90b6364761" /><Relationship Type="http://schemas.openxmlformats.org/officeDocument/2006/relationships/slide" Target="/ppt/slides/slide7.xml" Id="R935720bde5744da7" /><Relationship Type="http://schemas.openxmlformats.org/officeDocument/2006/relationships/slide" Target="/ppt/slides/slide8.xml" Id="R11bb6e10f31a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ba8d0e8a02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4d2db39e64348" /><Relationship Type="http://schemas.openxmlformats.org/officeDocument/2006/relationships/notesMaster" Target="/ppt/notesMasters/notesMaster1.xml" Id="Rcbc3855f89f142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1954e0fc004d49" /><Relationship Type="http://schemas.openxmlformats.org/officeDocument/2006/relationships/notesMaster" Target="/ppt/notesMasters/notesMaster1.xml" Id="Ra8eaf8fc61f94b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b93d6afb9142a2" /><Relationship Type="http://schemas.openxmlformats.org/officeDocument/2006/relationships/notesMaster" Target="/ppt/notesMasters/notesMaster1.xml" Id="R157f3ea6757e45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f6e961b94848da" /><Relationship Type="http://schemas.openxmlformats.org/officeDocument/2006/relationships/notesMaster" Target="/ppt/notesMasters/notesMaster1.xml" Id="R4f8a846e11e847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329bf16a548f4" /><Relationship Type="http://schemas.openxmlformats.org/officeDocument/2006/relationships/notesMaster" Target="/ppt/notesMasters/notesMaster1.xml" Id="Rbaeb38f2271f4a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a53454fc7c4185" /><Relationship Type="http://schemas.openxmlformats.org/officeDocument/2006/relationships/notesMaster" Target="/ppt/notesMasters/notesMaster1.xml" Id="R026bd454f36849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201152ca540b8" /><Relationship Type="http://schemas.openxmlformats.org/officeDocument/2006/relationships/notesMaster" Target="/ppt/notesMasters/notesMaster1.xml" Id="Ra95aa082cbe1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a38832970452c" /><Relationship Type="http://schemas.openxmlformats.org/officeDocument/2006/relationships/notesMaster" Target="/ppt/notesMasters/notesMaster1.xml" Id="Rcc54df58cf7540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ded238f3c408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a2e01b825404e99" /><Relationship Type="http://schemas.openxmlformats.org/officeDocument/2006/relationships/slideLayout" Target="/ppt/slideLayouts/slideLayout2.xml" Id="Rdf4cda0e9322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cda0e9322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6b960d70141ff" /><Relationship Type="http://schemas.openxmlformats.org/officeDocument/2006/relationships/notesSlide" Target="/ppt/notesSlides/notesSlide1.xml" Id="R904a6284e0ac47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6628244f244ae" /><Relationship Type="http://schemas.openxmlformats.org/officeDocument/2006/relationships/notesSlide" Target="/ppt/notesSlides/notesSlide2.xml" Id="Raa8de674c084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d4de217974852" /><Relationship Type="http://schemas.openxmlformats.org/officeDocument/2006/relationships/notesSlide" Target="/ppt/notesSlides/notesSlide3.xml" Id="R383eac33328840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95c2392c7427e" /><Relationship Type="http://schemas.openxmlformats.org/officeDocument/2006/relationships/notesSlide" Target="/ppt/notesSlides/notesSlide4.xml" Id="Rd92d1b0f560f4c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79e0f15664a90" /><Relationship Type="http://schemas.openxmlformats.org/officeDocument/2006/relationships/notesSlide" Target="/ppt/notesSlides/notesSlide5.xml" Id="R14ddb8e0c63c4a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e700b4376448aa" /><Relationship Type="http://schemas.openxmlformats.org/officeDocument/2006/relationships/notesSlide" Target="/ppt/notesSlides/notesSlide6.xml" Id="Reaa2cec1473e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bb103029d4561" /><Relationship Type="http://schemas.openxmlformats.org/officeDocument/2006/relationships/notesSlide" Target="/ppt/notesSlides/notesSlide7.xml" Id="R996d8ec5fa7a48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249c0554144ae" /><Relationship Type="http://schemas.openxmlformats.org/officeDocument/2006/relationships/notesSlide" Target="/ppt/notesSlides/notesSlide8.xml" Id="Rb7823d33126549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BF3F0-1E11-427E-ADA9-9165BD6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5EBD-B01E-4C60-8124-86318215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INSIGHTOPS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59D39-C765-4A01-8F27-805B6EF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7F2E8"/>
                </a:solidFill>
                <a:latin typeface="Georgia"/>
                <a:ea typeface="Georgia"/>
                <a:cs typeface="Georgia"/>
              </a:rPr>
              <a:t>Governed ChatBI is now measured on GKE, not just described in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B1DC9-FFEA-4A88-92B0-00F8206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676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2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2C5"/>
                </a:solidFill>
                <a:latin typeface="Arial"/>
                <a:ea typeface="Arial"/>
                <a:cs typeface="Arial"/>
              </a:rPr>
              <a:t>Demo report for a governed multi-agent BI platform with SQL guardrails, RAG evidence, cloud deployment metrics, and token-efficiency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BED4D-9AE2-4BE5-AA4D-EDC914D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6096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66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C7F8A-6E84-4336-9ABA-56D30374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A4E5F-EB03-47C5-89BC-B1F71F0F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stable 10-minute success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D8103-D95B-4521-920F-047A518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3C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4E3C8"/>
                </a:solidFill>
                <a:latin typeface="Georgia"/>
                <a:ea typeface="Georgia"/>
                <a:cs typeface="Georgia"/>
              </a:rPr>
              <a:t>176.69ms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C97EA-7FB7-4B63-B166-1EADE28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stable-load P95 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9B8F2-55E0-4F31-8173-BDF95EE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E6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DDE6FF"/>
                </a:solidFill>
                <a:latin typeface="Georgia"/>
                <a:ea typeface="Georgia"/>
                <a:cs typeface="Georgia"/>
              </a:rPr>
              <a:t>98.01%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F95AC-240F-4946-904C-6C3CB04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estimated token reduction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D60EF-8560-4F88-A014-3DF91E3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3C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4E3C8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C5ACC-1F47-41DB-B49A-502ED8F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complex correctness cases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CFE1C-8EBE-4C45-94A6-2543950B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Live staging: http://136.69.23.39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043FF-51DF-4981-A046-68DEBC2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AB4AA"/>
                </a:solidFill>
                <a:latin typeface="Arial"/>
                <a:ea typeface="Arial"/>
                <a:cs typeface="Arial"/>
              </a:rPr>
              <a:t>Scope: GKE Autopilot staging, mock LLM provider, reproducible benchmark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940FD-727A-4E94-B04D-B3F34CDA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AB4AA"/>
                </a:solidFill>
                <a:latin typeface="Arial"/>
                <a:ea typeface="Arial"/>
                <a:cs typeface="Arial"/>
              </a:rPr>
              <a:t>Sources: dist/report/report-evaluation-summary.md, token-savings-report.md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017AF-12BE-44FD-9CE6-757EA5D5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AB4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69069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9C620-1A48-4496-8AC9-A4E5CBD9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5350-D929-41CC-ABEC-CAD86EA9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55AE0-442F-4A15-A3FE-B552291C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The LLM sits behind governed routing, bounded data, and audit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1D70-B7BE-4D03-9F27-2A5614A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F063C-6FCA-4999-A8FC-002061E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ACD58-5F44-454D-80F2-6ED643B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Natural-language BI request with user, role, org, and session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690F7-DD30-4DA2-A4AF-9927A28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33625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C9D2B-001A-49DA-ABB9-6D211DF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4792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186C7-76F2-436C-9801-E10B6DD1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  <p:txBody>
          <a:bodyPr xmlns:a="http://schemas.openxmlformats.org/drawingml/2006/main" wrap="square" lIns="57150" tIns="38100" rIns="57150" bIns="38100" anchor="t">
            <a:normAutofit fontScale="8458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Classifies intent and builds an agent plan instead of sending raw enterprise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852D6-AB24-4BA5-99C9-674795E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6724F-239E-4FDE-9C03-0C353CC9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C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SQL guardrail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3A06-2C72-4579-8DB3-C25FAE0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33675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C8"/>
          </a:solidFill>
        </p:spPr>
        <p:txBody>
          <a:bodyPr xmlns:a="http://schemas.openxmlformats.org/drawingml/2006/main" wrap="square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Read-only validation, table allow-list, row limit, timeout policy, audit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19822-A737-439A-A930-A53FB5BC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33625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611F4-39C8-4D82-A717-47F480C0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RAG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0B547-26BD-4613-B7D5-C3F9071E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33675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</p:spPr>
        <p:txBody>
          <a:bodyPr xmlns:a="http://schemas.openxmlformats.org/drawingml/2006/main" wrap="square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BM25/embedding retrieval selects only top snippets and citations.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458E7-AEA9-42AD-ACC4-70CE2672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ACC4D-141B-4ACC-B65D-02AC4B54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4792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Answer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B25EE-D7E9-4E36-9139-C254DCF6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33675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Checks grounded answer, traces every step, returns warnings when needed.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60FE3-F748-41C0-AF95-C901C5F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33625"/>
            <a:ext cx="114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11048-2291-421F-AD56-06933D74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479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User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7C386-F497-47AF-A120-17B0884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33675"/>
            <a:ext cx="876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F"/>
          </a:solidFill>
        </p:spPr>
        <p:txBody>
          <a:bodyPr xmlns:a="http://schemas.openxmlformats.org/drawingml/2006/main" wrap="square" lIns="57150" tIns="38100" rIns="57150" bIns="38100" anchor="t">
            <a:normAutofit fontScale="768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Chart/table/text response with trace_id for admin observability.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20759-6074-4FF4-A3D4-4F5915B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86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6B121-8ED2-456B-97A0-D297285F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68C6E-C8E9-44DC-B00A-2F21B8D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86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65D11-BFB8-4C23-82D0-B265F7A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7EC76-F3DD-4B28-BBB6-2941975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86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09EFE-A0A7-4FE1-B255-A0E50297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AB280C-6E4E-4EB5-9B8A-E928EFB9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EED2D-E5DE-4C72-96B5-C44BFB1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E9A2A-66E4-49F0-AFFD-E2E0634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C80E4-182A-4D03-B2D2-2D8981A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17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8B25A-96D5-4A9E-A7DF-74C9137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6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279DBD-FA0F-4DC1-ACB6-C70C2B0E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7A87EE-2F21-4E0F-95B3-AB95CA7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The architecture is designed to reduce risk and token usage before the model is called: SQL handles structured aggregation; RAG handles targeted evidence; guardrails block unsafe execution.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E9CA6-2F19-4585-98B7-26C65150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Secret handling: OpenAI API key is injected into backend/worker by Kubernetes Secret, not committed into YAML.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4ED5A9-BE72-4041-B8BF-E6E65D1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Sources: README.md, k8s/chatbi-runtime.yaml, docs/deployment/cloud-kubernetes-runbook.md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00D5BE-12E1-43AF-8BD2-6EDCE43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60164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A95F2-8368-40CF-A6C3-F1FF831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71617-CAD6-4729-ACED-57F82C77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STEADY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C3D6-61F8-460F-A1E7-D063831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Stable load ran for 10 minutes with no failed requests.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05FA4-75E4-46CC-A266-1A5C1A58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480/480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4C12C-85DD-42D9-B5C8-BFFD1769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HTTP 200 responses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D71EA-6BC5-4907-A379-67E53A34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B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D5BFF"/>
                </a:solidFill>
                <a:latin typeface="Georgia"/>
                <a:ea typeface="Georgia"/>
                <a:cs typeface="Georgia"/>
              </a:rPr>
              <a:t>0.8 RPS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C927-432A-4C8E-BC1D-BC04C61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90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sustained target throughput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66133-49C4-4402-9666-73EB8D0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52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176.69ms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1BEAF-B4F6-478F-9F45-40764072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P95 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B756C-F186-4386-B7CD-9EA84DDC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88A2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D88A22"/>
                </a:solidFill>
                <a:latin typeface="Georgia"/>
                <a:ea typeface="Georgia"/>
                <a:cs typeface="Georgia"/>
              </a:rPr>
              <a:t>262.55ms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588B3-BE84-4428-B880-FB20F3B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P99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A024F-529C-4D31-ABA8-45F6104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Latency 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19824-B370-4BB4-AD3D-0C736D4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910E3-F2A1-4E99-89BA-30E304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433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6F31C-EC77-405A-8244-3031EF8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43375"/>
            <a:ext cx="12344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CF19C-0F3E-4FDD-907C-C91FB140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862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96.03ms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27972-E14C-4AA5-9D33-24E63B9D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P95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9DFB0-B133-42BE-B0A6-5AD3BF0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815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4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95B2E-E54C-46F0-835F-863D621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81525"/>
            <a:ext cx="22974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5F673-8766-4BF9-A40A-6ABAF46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243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176.69ms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D8125-3BAD-4924-AA88-28980DB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P99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3C5F3-4F9F-43ED-B4CD-E291A27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E20CC-76DF-4F96-BC7A-BDC08FCF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05373-08CC-4A80-BA14-E18C97EF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62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262.55ms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9BC39-7753-4977-96C9-5A75EC5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57E4B-3F28-49EA-A3BD-DB72581D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This is the primary reliability number for the demo report: a controlled sustained workload below the configured rate limit, run against the public GKE endpoint for a full 600-second window.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1919B-D7E1-4890-AE98-28A23E0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Source: dist/report/gke-sustained-stable-benchmark.md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6405F-A786-4730-B626-B114853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85917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18C48-0D32-4D6A-B565-963AFAF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1C9B4-942D-4EFD-936F-3941640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OVERLOAD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30F03-6AFF-4305-8DD9-25DD982B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At 20 RPS, the platform fails closed through rate limiting.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BF50-5E65-4804-965B-B85D4AF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2A5C6-75BB-4CBC-BA5A-4B6444A8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38023-67D3-462A-A078-4015D838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41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A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1,200 accepted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87263-D88E-4FEB-8721-3C258AE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241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429 rate-limited: 10,799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183FD-4A45-483E-98DC-69D5FC5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24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502: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01761-EA2C-44CF-A0F3-04872C9C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12,000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51559-ECEB-4313-81E8-68D5879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requests over 600 seconds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D2ADC-A06F-4B7B-BAF5-0C1CCDD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B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D5BFF"/>
                </a:solidFill>
                <a:latin typeface="Georgia"/>
                <a:ea typeface="Georgia"/>
                <a:cs typeface="Georgia"/>
              </a:rPr>
              <a:t>19.997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85ADE-75AC-47D5-A0DA-D3D7CE7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862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observed throughput RPS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CDB96-33B3-4008-9654-6442D48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48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88A2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D88A22"/>
                </a:solidFill>
                <a:latin typeface="Georgia"/>
                <a:ea typeface="Georgia"/>
                <a:cs typeface="Georgia"/>
              </a:rPr>
              <a:t>90.0%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05ACD-9785-4C35-933F-97EE2DB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requests intentionally 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ADF19-1B2E-4AAA-A1A4-D50DFF17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802AC-3029-4909-AAEC-992D896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The rate limiter prevents unbounded model/tool execution. In the report, frame this as overload governance, not as steady-state capacity.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407D6-5B57-4C04-A00F-FD90F245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Source: dist/report/gke-sustained-rate-limit-stress.md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5FE7-3D58-4222-BAC4-F9321395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0792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CBA1B-9EDA-4FF5-9609-871CC77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306F2-542A-42C3-B8D6-954475BA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06703-123C-492A-9C9D-18568CF5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Correctness and governance are measured as separate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64C8A-15CA-4DA3-B556-0DEAD04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ECBC1-1698-4593-A190-4A16A427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Expanded correctness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3DCC2-2B7C-47AD-838A-C3B88F5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67F93-4B5E-43DD-A264-9A303338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complex golden cases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D789E-8518-4E7F-AC68-4CFCD11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8CAD9-BE36-4E44-A12D-19CB30E9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Dangerous SQL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009EB-7B3A-4A52-AD33-AC179F5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B25B5-7480-4862-BD5D-85FAC336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DROP/DELETE unsafe SQL denied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D492A-A87D-450C-860B-FA72DE22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D1D28-3649-4BD7-9A60-F218D329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Benign SQL allow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010DB-7F75-4D35-8266-C22F84C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8129D-9D86-4125-B429-6DFE8E9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valid read-only SQL 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034FD-A379-465F-9B69-43FD851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22983-F223-41EE-8FB2-C414A80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Guardrail P95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576BF-220D-4FC8-9C4B-3B73F48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D5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5BFF"/>
                </a:solidFill>
                <a:latin typeface="Arial"/>
                <a:ea typeface="Arial"/>
                <a:cs typeface="Arial"/>
              </a:rPr>
              <a:t>168.55ms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623AC-38C9-4D2F-B984-E21DC603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safety check latency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877BA-BCDE-4693-B2EC-C7696C9F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DB606-345B-4B5A-B2CD-E11441B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Agent step success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03A1B-CC38-4F3E-B1C6-2C9FCF7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0E17C-DC75-4D03-9D9B-91B09563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planned steps completed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8B43E-9C03-47F8-AF55-F97F6D4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E803F-C32D-4D50-8828-44BCB94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Multi-agent collaboration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CD057-90DF-4CC5-A3A3-2C1ABF8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EBAF2-6472-4534-8925-AAAF370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orchestrator, SQL, verifier, synthesis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11245-8339-4F61-8A05-4A0238BA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Report framing: quality is not one score. It is answer correctness plus guardrail safety plus execution traceability.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3AB8B-F4F3-43EE-8EB1-DD1F6C3F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Sources: gke-extended-correctness.md, gke-staging-metrics.md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E212E-B457-450E-8891-E3573E0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56088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CE95A-CBCA-49B9-AFC5-BC84F17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3E6D5-6DE4-448B-884C-69F3BF4C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TOKEN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BA124-7E3C-4386-9A00-E661677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SQL plus RAG turns long-context analysis into bounded prompts.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91D41-2E4D-416A-A49C-D4EEA114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Complex executive-analysis 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29627-F950-4C00-ADCC-9E5B9479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4420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88A33-003A-48CD-A792-0C38B4C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8A529-F497-4B8C-8AAC-EE64955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Optimized SQL/RAG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15335-F8EA-4827-9809-D66FBC46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623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6,508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2F77F-5434-4A83-B08C-A2D8F062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Naive full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5AB3C-8977-4BEB-9D91-C2D2A72D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148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2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326,696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221D7-7A6D-4B7E-8FFE-EFD7E77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98.01%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52C51-A77E-4263-BAF5-EE6F9002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estimated token reduction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1A5D8-54BB-485C-B1FD-2222AFEB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B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D5BFF"/>
                </a:solidFill>
                <a:latin typeface="Georgia"/>
                <a:ea typeface="Georgia"/>
                <a:cs typeface="Georgia"/>
              </a:rPr>
              <a:t>53,365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D897F-3A2A-4D91-80A3-D73E1FC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avg tokens saved per complex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5E26D-D082-4BE7-8B1F-536019A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A6438-2CF9-4CAE-AE8F-4BD2032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05400"/>
            <a:ext cx="758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The platform does not stuff multi-year database rows and broad enterprise documents into the model. SQL filters structured data; RAG injects only top evidence snippets.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F0C50-259B-4E61-9512-0F33E90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Source: dist/report/token-savings-report.md. Estimator-based; exact billing requires OpenAI usage fields.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F5910-43B7-4500-BCE1-725815B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79577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78BF5-BC83-4469-888C-EA92027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80A7-885F-46C8-9654-EF59637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D5A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DAF34-0051-4890-A9A8-635935C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The GKE deployment recovered quickly and stayed light on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3069D-B062-4324-9B9F-5EEF968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2495D-EEA1-4B86-9755-3C9F5CD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Pod recovery drill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DB8B4-E7C9-4901-B296-7F6411D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ACC6C-5C66-4D77-B7DB-72E34BE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73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E5EA7-22E4-4231-95B7-4F4B90F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4D53D-2BD6-45FD-B70A-6257E5A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9DDAE-88FE-4463-85C6-286B21C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delete pod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ECA14-28FD-4EAF-BB7B-DD338396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rollout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CC2E9-E932-4372-9651-EE8AF752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42E95-20FD-4742-94F8-E2367F2B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21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34E3B-D6E6-4257-A8F1-B6EFC9B1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backend pod recovery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EEA87-F909-4667-9FC6-C173DBA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762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AE225-14B3-4583-88B5-D801911E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After stable 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F81E0-4167-4513-8E89-D7F2FD44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B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D5BFF"/>
                </a:solidFill>
                <a:latin typeface="Georgia"/>
                <a:ea typeface="Georgia"/>
                <a:cs typeface="Georgia"/>
              </a:rPr>
              <a:t>6m / 115Mi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FA339-2245-4537-847E-AE28E7C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backend pod A CPU /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AFFD3-A576-49A3-824D-DD97798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14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B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D5BFF"/>
                </a:solidFill>
                <a:latin typeface="Georgia"/>
                <a:ea typeface="Georgia"/>
                <a:cs typeface="Georgia"/>
              </a:rPr>
              <a:t>7m / 120Mi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A4593-DFB6-425B-9D08-0819E6C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backend pod B CPU /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FB1F6-417D-4563-B4B8-AB7468B3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2% 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61B8E-1595-436A-9A9A-C96A13C6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GKE node CPU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6728-B57D-4B33-A9CD-79EE264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5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F7D5A"/>
                </a:solidFill>
                <a:latin typeface="Georgia"/>
                <a:ea typeface="Georgia"/>
                <a:cs typeface="Georgia"/>
              </a:rPr>
              <a:t>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705C4-0B0E-4A38-BC6C-D97D222C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GKE node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6AD3F-3E4A-4384-8840-C333767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HPA stayed at 2 backend replicas with CPU far below the 70% target.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96135-4F61-42D2-90D1-E6A8749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Sources: gke-pod-recovery-drill.md, gke-resource-utilization-after-stable-load.md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A8024-B21D-4DD9-A22C-641B970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1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81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15276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F14273-0A5A-4719-9BD2-7BBB9A6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F645-A3A4-45B2-B2BA-623FF3C9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C098-CEF4-434A-BD29-FE890B3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2E8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7F2E8"/>
                </a:solidFill>
                <a:latin typeface="Georgia"/>
                <a:ea typeface="Georgia"/>
                <a:cs typeface="Georgia"/>
              </a:rPr>
              <a:t>The demo story is defensible because every claim has a measurement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D6ED8-3AD2-47A1-8421-B45EFEFE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9EEB8-80C5-4C54-802A-ACAA9D81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577E-AAFA-4B7F-8AFF-ABA9E26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GKE staging handled stable load with 100% success.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9071A-5B3B-4D17-A446-78994BE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B8AAA-8084-404B-AF1C-47D4D03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AB71E-A592-431F-9CE2-01713A9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71825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Live URL, chat query, trace_id, report-evaluation-summary.md.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E9342-016A-4700-9B14-B8E7A599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B1C42-14F9-4BFF-B31D-40C3126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72575-415D-4D18-9AD5-80358E7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14775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Latency, correctness, guardrail, recovery, token-efficiency artifacts.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0F31E-5B56-4329-806D-B724C8B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AC86A-42F1-40C8-8703-4197B83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Be explicit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18CF6-9B09-46D2-BAFD-14189BA2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57725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8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Mock LLM provider means cloud runtime proof, not real OpenAI billing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911F-8361-444A-A4F1-ED5CC865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E3C8"/>
                </a:solidFill>
                <a:latin typeface="Arial"/>
                <a:ea typeface="Arial"/>
                <a:cs typeface="Arial"/>
              </a:rPr>
              <a:t>Recommended final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47A09-EDA7-4274-9E97-C436626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2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2E8"/>
                </a:solidFill>
                <a:latin typeface="Arial"/>
                <a:ea typeface="Arial"/>
                <a:cs typeface="Arial"/>
              </a:rPr>
              <a:t>InsightOps AI demonstrates governed enterprise decision intelligence: measured cloud reliability, bounded model context, auditable SQL/RAG execution, and safety controls that fail closed.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45082-11FA-4A49-B22D-7459E961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AB4AA"/>
                </a:solidFill>
                <a:latin typeface="Arial"/>
                <a:ea typeface="Arial"/>
                <a:cs typeface="Arial"/>
              </a:rPr>
              <a:t>Source: dist/report/report-evaluation-summary.md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EB83B-95EE-42DE-B853-8C40D64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AB4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5698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2026-08-24T20:27:55.2710000Z</dcterms:created>
  <dcterms:modified xsi:type="dcterms:W3CDTF">2026-08-24T20:27:55.2710000Z</dcterms:modified>
</coreProperties>
</file>